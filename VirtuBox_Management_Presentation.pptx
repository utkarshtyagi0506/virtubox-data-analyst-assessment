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Online Retail II — Management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515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/>
            </a:pPr>
            <a:r>
              <a:t>VirtuBox Data Analyst Assessment</a:t>
            </a:r>
          </a:p>
          <a:p>
            <a:pPr>
              <a:spcAft>
                <a:spcPts val="1400"/>
              </a:spcAft>
              <a:defRPr sz="2000"/>
            </a:pPr>
            <a:r>
              <a:t>Business focus: sales performance, seasonality, product/customer value and operational improvement.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1. Business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515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/>
            </a:pPr>
            <a:r>
              <a:t>Understand revenue sources and concentration risks.</a:t>
            </a:r>
          </a:p>
          <a:p>
            <a:pPr>
              <a:spcAft>
                <a:spcPts val="1400"/>
              </a:spcAft>
              <a:defRPr sz="2000"/>
            </a:pPr>
            <a:r>
              <a:t>Identify recurring demand patterns for planning.</a:t>
            </a:r>
          </a:p>
          <a:p>
            <a:pPr>
              <a:spcAft>
                <a:spcPts val="1400"/>
              </a:spcAft>
              <a:defRPr sz="2000"/>
            </a:pPr>
            <a:r>
              <a:t>Find high-value products and customers.</a:t>
            </a:r>
          </a:p>
          <a:p>
            <a:pPr>
              <a:spcAft>
                <a:spcPts val="1400"/>
              </a:spcAft>
              <a:defRPr sz="2000"/>
            </a:pPr>
            <a:r>
              <a:t>Measure cancellations/returns and improvement opportunities.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2. Data &amp; 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515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/>
            </a:pPr>
            <a:r>
              <a:t>UCI Online Retail II: 1,067,371 raw records and 8 fields.</a:t>
            </a:r>
          </a:p>
          <a:p>
            <a:pPr>
              <a:spcAft>
                <a:spcPts val="1400"/>
              </a:spcAft>
              <a:defRPr sz="2000"/>
            </a:pPr>
            <a:r>
              <a:t>Combined the two yearly worksheets.</a:t>
            </a:r>
          </a:p>
          <a:p>
            <a:pPr>
              <a:spcAft>
                <a:spcPts val="1400"/>
              </a:spcAft>
              <a:defRPr sz="2000"/>
            </a:pPr>
            <a:r>
              <a:t>Handled missing values, duplicates and invalid prices.</a:t>
            </a:r>
          </a:p>
          <a:p>
            <a:pPr>
              <a:spcAft>
                <a:spcPts val="1400"/>
              </a:spcAft>
              <a:defRPr sz="2000"/>
            </a:pPr>
            <a:r>
              <a:t>Created SalesAmount = Quantity × Price.</a:t>
            </a:r>
          </a:p>
          <a:p>
            <a:pPr>
              <a:spcAft>
                <a:spcPts val="1400"/>
              </a:spcAft>
              <a:defRPr sz="2000"/>
            </a:pPr>
            <a:r>
              <a:t>Retained negative quantities for return/cancellation analysis.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3. Key Findings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515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/>
            </a:pPr>
            <a:r>
              <a:t>UK sales: £16.14M, about 84.91% of analyzed sales.</a:t>
            </a:r>
          </a:p>
          <a:p>
            <a:pPr>
              <a:spcAft>
                <a:spcPts val="1400"/>
              </a:spcAft>
              <a:defRPr sz="2000"/>
            </a:pPr>
            <a:r>
              <a:t>November was the strongest recurring sales month in both observed years.</a:t>
            </a:r>
          </a:p>
          <a:p>
            <a:pPr>
              <a:spcAft>
                <a:spcPts val="1400"/>
              </a:spcAft>
              <a:defRPr sz="2000"/>
            </a:pPr>
            <a:r>
              <a:t>Top product: StockCode 22423 with £314,045.02 sales.</a:t>
            </a:r>
          </a:p>
          <a:p>
            <a:pPr>
              <a:spcAft>
                <a:spcPts val="1400"/>
              </a:spcAft>
              <a:defRPr sz="2000"/>
            </a:pPr>
            <a:r>
              <a:t>Top 3 identified customers generated £1,389,786.12.</a:t>
            </a:r>
          </a:p>
          <a:p>
            <a:pPr>
              <a:spcAft>
                <a:spcPts val="1400"/>
              </a:spcAft>
              <a:defRPr sz="2000"/>
            </a:pPr>
            <a:r>
              <a:t>Negative-quantity rows represented about 1.86% of final records.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4. Deep-Dive Insight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515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/>
            </a:pPr>
            <a:r>
              <a:t>December 2011 appears unusually weak at first glance.</a:t>
            </a:r>
          </a:p>
          <a:p>
            <a:pPr>
              <a:spcAft>
                <a:spcPts val="1400"/>
              </a:spcAft>
              <a:defRPr sz="2000"/>
            </a:pPr>
            <a:r>
              <a:t>November 2011: £1,456,145.80.</a:t>
            </a:r>
          </a:p>
          <a:p>
            <a:pPr>
              <a:spcAft>
                <a:spcPts val="1400"/>
              </a:spcAft>
              <a:defRPr sz="2000"/>
            </a:pPr>
            <a:r>
              <a:t>December 2011: £432,719.06.</a:t>
            </a:r>
          </a:p>
          <a:p>
            <a:pPr>
              <a:spcAft>
                <a:spcPts val="1400"/>
              </a:spcAft>
              <a:defRPr sz="2000"/>
            </a:pPr>
            <a:r>
              <a:t>The dataset ends on 9 December 2011, so December is incomplete.</a:t>
            </a:r>
          </a:p>
          <a:p>
            <a:pPr>
              <a:spcAft>
                <a:spcPts val="1400"/>
              </a:spcAft>
              <a:defRPr sz="2000"/>
            </a:pPr>
            <a:r>
              <a:t>Conclusion: do not interpret this as a full-month demand collapse.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5. Recommendations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515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/>
            </a:pPr>
            <a:r>
              <a:t>1. Prepare inventory, staffing and campaigns before November.</a:t>
            </a:r>
          </a:p>
          <a:p>
            <a:pPr>
              <a:spcAft>
                <a:spcPts val="1400"/>
              </a:spcAft>
              <a:defRPr sz="2000"/>
            </a:pPr>
            <a:r>
              <a:t>2. Investigate returns/cancellations by product, country and month.</a:t>
            </a:r>
          </a:p>
          <a:p>
            <a:pPr>
              <a:spcAft>
                <a:spcPts val="1400"/>
              </a:spcAft>
              <a:defRPr sz="2000"/>
            </a:pPr>
            <a:r>
              <a:t>3. Develop selected international markets while protecting UK performance.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6. Expected Business Impact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515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/>
            </a:pPr>
            <a:r>
              <a:t>Better peak-season readiness and product availability.</a:t>
            </a:r>
          </a:p>
          <a:p>
            <a:pPr>
              <a:spcAft>
                <a:spcPts val="1400"/>
              </a:spcAft>
              <a:defRPr sz="2000"/>
            </a:pPr>
            <a:r>
              <a:t>Identification of recurring operational/product issues.</a:t>
            </a:r>
          </a:p>
          <a:p>
            <a:pPr>
              <a:spcAft>
                <a:spcPts val="1400"/>
              </a:spcAft>
              <a:defRPr sz="2000"/>
            </a:pPr>
            <a:r>
              <a:t>More diversified revenue and reduced dependence on one market.</a:t>
            </a:r>
          </a:p>
          <a:p>
            <a:pPr>
              <a:spcAft>
                <a:spcPts val="1400"/>
              </a:spcAft>
              <a:defRPr sz="2000"/>
            </a:pPr>
            <a:r>
              <a:t>Track sales, stock-outs, return rate and non-UK customer growth.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7. Limitations &amp;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515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/>
            </a:pPr>
            <a:r>
              <a:t>243,007 records have missing CustomerID.</a:t>
            </a:r>
          </a:p>
          <a:p>
            <a:pPr>
              <a:spcAft>
                <a:spcPts val="1400"/>
              </a:spcAft>
              <a:defRPr sz="2000"/>
            </a:pPr>
            <a:r>
              <a:t>December 2011 is incomplete.</a:t>
            </a:r>
          </a:p>
          <a:p>
            <a:pPr>
              <a:spcAft>
                <a:spcPts val="1400"/>
              </a:spcAft>
              <a:defRPr sz="2000"/>
            </a:pPr>
            <a:r>
              <a:t>No product cost, gross margin, CAC or fulfillment cost is available.</a:t>
            </a:r>
          </a:p>
          <a:p>
            <a:pPr>
              <a:spcAft>
                <a:spcPts val="1400"/>
              </a:spcAft>
              <a:defRPr sz="2000"/>
            </a:pPr>
            <a:r>
              <a:t>Next: combine cost, marketing and operational data for profitability/ROI analysis.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